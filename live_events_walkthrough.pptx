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1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Rock events per 100k</c:v>
                </c:pt>
              </c:strCache>
            </c:strRef>
          </c:tx>
          <c:spPr>
            <a:solidFill>
              <a:srgbClr val="F951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Las Vegas</c:v>
                  </c:pt>
                  <c:pt idx="1">
                    <c:v>Nashville</c:v>
                  </c:pt>
                  <c:pt idx="2">
                    <c:v>Denver</c:v>
                  </c:pt>
                  <c:pt idx="3">
                    <c:v>Chicago</c:v>
                  </c:pt>
                  <c:pt idx="4">
                    <c:v>Phoenix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10.56</c:v>
                </c:pt>
                <c:pt idx="1">
                  <c:v>9.05</c:v>
                </c:pt>
                <c:pt idx="2">
                  <c:v>6.34</c:v>
                </c:pt>
                <c:pt idx="3">
                  <c:v>2.63</c:v>
                </c:pt>
                <c:pt idx="4">
                  <c:v>2.86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events in top 3 venues</c:v>
                </c:pt>
              </c:strCache>
            </c:strRef>
          </c:tx>
          <c:spPr>
            <a:solidFill>
              <a:srgbClr val="FFC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9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San Antonio</c:v>
                  </c:pt>
                  <c:pt idx="1">
                    <c:v>Miami</c:v>
                  </c:pt>
                  <c:pt idx="2">
                    <c:v>Phoenix</c:v>
                  </c:pt>
                  <c:pt idx="3">
                    <c:v>New York</c:v>
                  </c:pt>
                  <c:pt idx="4">
                    <c:v>Nashville</c:v>
                  </c:pt>
                  <c:pt idx="5">
                    <c:v>Las Vegas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61.9</c:v>
                </c:pt>
                <c:pt idx="1">
                  <c:v>58.4</c:v>
                </c:pt>
                <c:pt idx="2">
                  <c:v>49.5</c:v>
                </c:pt>
                <c:pt idx="3">
                  <c:v>36.7</c:v>
                </c:pt>
                <c:pt idx="4">
                  <c:v>35.2</c:v>
                </c:pt>
                <c:pt idx="5">
                  <c:v>29.5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9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DE9F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Jazz price</c:v>
                </c:pt>
              </c:strCache>
            </c:strRef>
          </c:tx>
          <c:spPr>
            <a:solidFill>
              <a:srgbClr val="FFC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C2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2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51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New York</c:v>
                  </c:pt>
                  <c:pt idx="1">
                    <c:v>Genre benchmark</c:v>
                  </c:pt>
                  <c:pt idx="2">
                    <c:v>Los Angeles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38.1</c:v>
                </c:pt>
                <c:pt idx="1">
                  <c:v>32.69</c:v>
                </c:pt>
                <c:pt idx="2">
                  <c:v>18.8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951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LIVE · COMMERCIAL STRATEGY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expand, defend, and hold back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segmentation &amp; price-positioning analysis of 16,016 live events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2D21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51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</a:t>
            </a:r>
            <a:pPr algn="l" indent="0" marL="0">
              <a:buNone/>
            </a:pPr>
            <a:r>
              <a:rPr lang="en-US" sz="2600" dirty="0">
                <a:solidFill>
                  <a:srgbClr val="8A8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vs  </a:t>
            </a:r>
            <a:pPr algn="l" indent="0" marL="0">
              <a:buNone/>
            </a:pPr>
            <a:r>
              <a:rPr lang="en-US" sz="5400" b="1" dirty="0">
                <a:solidFill>
                  <a:srgbClr val="F95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5166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Jazz ticket: New York vs Los Angeles — same product, double the price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APIs (Ticketmaster + Deezer)  ·  PostgreSQL  ·  window-function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promoter is planning next quarter's booking calendar — on gut feel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DE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solidFill>
            <a:srgbClr val="2D21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Live books &amp; sells tickets for concerts and comedy across 20 US metros. Margin depends on pricing right and allocating event volume right.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DE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423160"/>
            <a:ext cx="457200" cy="457200"/>
          </a:xfrm>
          <a:prstGeom prst="ellipse">
            <a:avLst/>
          </a:prstGeom>
          <a:solidFill>
            <a:srgbClr val="2D215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stakeholder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VP of Commercial owns pricing and inventory. Recurring question: where are we underpriced, and which markets are over- or under-served?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DE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423160"/>
            <a:ext cx="457200" cy="457200"/>
          </a:xfrm>
          <a:prstGeom prst="ellipse">
            <a:avLst/>
          </a:prstGeom>
          <a:solidFill>
            <a:srgbClr val="F95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quarter's booking calendar. Where to add events, where to pull back, and where pricing has room to move — a real allocation call worth money.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city-genre segments should we expand, defend, or avoid?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levers, one calendar: 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book in each market (supply), and how to price it (position). The project answers both from live data — and fuses them into one prioritization map.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4663440"/>
            <a:ext cx="146304" cy="146304"/>
          </a:xfrm>
          <a:prstGeom prst="ellipse">
            <a:avLst/>
          </a:prstGeom>
          <a:solidFill>
            <a:srgbClr val="F9515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Supply: which markets are over- vs under-served per capita?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5212080"/>
            <a:ext cx="146304" cy="14630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074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where are we priced above or below comparable markets?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API in, cleaned and enriched, analyzed in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5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16,016 events pulled live from the Ticketmaster Discovery API across 20 metros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82A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044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3794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messy dates &amp; prices; excluded 398 zero-price &amp; junk-genre records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82A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5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0936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794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metro population to compute per-capita intensity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4108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82A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915400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09828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98280" y="3794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&amp; percentiles for saturation and price position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hires on your cleaning pipeline — but the data-quality catches (missing prices, junk dates) shaped every finding.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Normalizing by population flips the naive read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analysis called Las Vegas under-served in Rock. Per-capita shows it's #1 — the share signal was a mix artifact.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37744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5603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2D2150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0" y="32004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Vegas Comedy is so dominant it compressed every other genre's share — making Rock look thin when it's actually the most intense Rock market in the data.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use per-capita intensity, not share.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tested the obvious explanation — and the data refuted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Vegas &amp; Nashville dominate per-capita because of a few tourist mega-venues. Test: how concentrated is each market's top 3 venues?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46888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65176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9515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Refuted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46720" y="33832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Vegas has 63 venues and only 29.5% in its top 3 — one of the LEAST concentrated markets. Its dominance is genuine breadth, not tourist traps.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changed by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THE HEADLINE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genre sells for double across markets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28600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46888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2D2150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31089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Jazz commands $38 on 251 priced events (reliable). LA Jazz sits at $19 — $14 below peers on 85 events. LA applies the same low floor to R&amp;B.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test price increases on LA Jazz &amp; R&amp;B, or confirm LA is structurally price-sensitive.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axes, one map: where to expand, defend, and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26080" y="2194560"/>
            <a:ext cx="3017520" cy="1965960"/>
          </a:xfrm>
          <a:prstGeom prst="rect">
            <a:avLst/>
          </a:prstGeom>
          <a:solidFill>
            <a:srgbClr val="2D2150"/>
          </a:solidFill>
          <a:ln w="25400">
            <a:solidFill>
              <a:srgbClr val="1A14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5468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546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under-served · soft 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Blues · Detroit Metal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2194560"/>
            <a:ext cx="3017520" cy="1965960"/>
          </a:xfrm>
          <a:prstGeom prst="rect">
            <a:avLst/>
          </a:prstGeom>
          <a:solidFill>
            <a:srgbClr val="F9515B"/>
          </a:solidFill>
          <a:ln w="25400">
            <a:solidFill>
              <a:srgbClr val="1A14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722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under-served · premium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R&amp;B · NYC Jazz · Boston Jazz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0" y="4160520"/>
            <a:ext cx="3017520" cy="1965960"/>
          </a:xfrm>
          <a:prstGeom prst="rect">
            <a:avLst/>
          </a:prstGeom>
          <a:solidFill>
            <a:srgbClr val="3A3358"/>
          </a:solidFill>
          <a:ln w="25400">
            <a:solidFill>
              <a:srgbClr val="1A1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54680" y="4892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· soft price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5440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 Rock · Denver Comedy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4160520"/>
            <a:ext cx="3017520" cy="1965960"/>
          </a:xfrm>
          <a:prstGeom prst="rect">
            <a:avLst/>
          </a:prstGeom>
          <a:solidFill>
            <a:srgbClr val="FFC24B"/>
          </a:solidFill>
          <a:ln w="25400">
            <a:solidFill>
              <a:srgbClr val="1A14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4892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· premium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5440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 Country · Chicago Rock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62179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peers  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6200000">
            <a:off x="73152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per capita  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5440" y="2286000"/>
            <a:ext cx="2651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deliverable: every city-genre gets an action label — a ranked, defensible calendar, not gut feel.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for next quarter's calendar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F951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0" y="2148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inventory in NYC Jazz (+$5, 256 events) and NYC R&amp;B — premium price, thin supply.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00200" y="32004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price lifts on LA Jazz &amp; R&amp;B, ~$10–14 below comparable markets on solid samples.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D215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4251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4251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Hold, don't flood, Nashville Country &amp; Chicago Rock — lucrative but already saturated.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3A335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57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00200" y="5303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5303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comedy &amp; jazz for September, mainstream music for October, matching supply peaks.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DATA OR 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add next — and what the data can't yet say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146304" cy="146304"/>
          </a:xfrm>
          <a:prstGeom prst="ellipse">
            <a:avLst/>
          </a:prstGeom>
          <a:solidFill>
            <a:srgbClr val="F9515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demand signals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fan-count demand layer is now built (Finding 4). Next: blend several demand sources (streaming, social, search) into a sturdier signal than any single proxy can give.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146304" cy="14630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sales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prices ≠ realized demand. Sell-through would separate 'pricing power' from 'weak local demand' in the below-peer markets.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846320"/>
            <a:ext cx="146304" cy="14630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54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history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findings are a single booking-calendar snapshot; true seasonality needs historical events, not one pull.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limits is the point — it's what separates a defensible read from an oversold 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TECHNICAL DEPTH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 — held in reserve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3288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(requests) hits the Ticketmaster Discovery API, paginates 20 metros × 2 segments, dedupes on event id, flattens nested JSON → CSV → PostgreSQL.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85876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view casts text→numeric/date, regex-guards malformed dates, strips '%' fields, flags priced vs free, and derives vintage/month buckets.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discipline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18464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is gated on min event count (10–30) so thin samples never surface as findings — the same rigor applied to the 15% price subset.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53288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percentile_cont WITHIN GROUP for medians &amp; p25/p75 spread · SUM()/AVG() OVER (PARTITION BY …) for in-place benchmarks · RANK() for per-genre leaders · FILTER for conditional aggregation.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385876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(events/100k) and price-vs-peers computed independently, then joined and cross-classified into EXPAND/DEFEND/TEST/AVOID via a CASE on each axis' mean.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catches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518464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zero-price records, ~116 junk-genre rows, and far-future junk dates (2038–39) identified and excluded — each documented as a limitation.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5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· DEMAND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markets don't price to demand</a:t>
            </a:r>
            <a:endParaRPr lang="en-US" sz="3200" dirty="0"/>
          </a:p>
        </p:txBody>
      </p:sp>
      <p:pic>
        <p:nvPicPr>
          <p:cNvPr id="40" name="Demand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0000"/>
            <a:ext cx="6583680" cy="4302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46888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2D2150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31089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artist fan-count against ticket price within each market: in 10 of 12 markets, price barely tracks demand. Denver (-0.25) and Portland (-0.12) run slightly inverse, pricing bigger-draw acts the same or lower.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popular acts are the likeliest underpriced. Action: test demand-based price lifts on top-draw acts in Denver, Portland, and Chicago.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2026-08-18T17:27:35Z</dcterms:created>
  <dcterms:modified xsi:type="dcterms:W3CDTF">2026-08-18T17:27:35Z</dcterms:modified>
</cp:coreProperties>
</file>